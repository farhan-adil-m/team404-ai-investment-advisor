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108960" y="-2743200"/>
            <a:ext cx="7863840" cy="5669280"/>
          </a:xfrm>
          <a:prstGeom prst="ellipse">
            <a:avLst/>
          </a:prstGeom>
          <a:solidFill>
            <a:srgbClr val="3E5C8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480560"/>
            <a:ext cx="6217920" cy="4572000"/>
          </a:xfrm>
          <a:prstGeom prst="ellipse">
            <a:avLst/>
          </a:prstGeom>
          <a:solidFill>
            <a:srgbClr val="3E5C8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190">
                <a:solidFill>
                  <a:srgbClr val="00C853"/>
                </a:solidFill>
                <a:latin typeface="Inter"/>
              </a:rPr>
              <a:t>MATRIX HACKATHON 2026  ·  DRKVSRIT ×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700784"/>
            <a:ext cx="649224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300" b="1">
                <a:solidFill>
                  <a:srgbClr val="F4F6F8"/>
                </a:solidFill>
                <a:latin typeface="Sora"/>
              </a:rPr>
              <a:t>AI-Powered Personal
Investment Advisor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858768"/>
            <a:ext cx="1371600" cy="50292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78224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>
                <a:solidFill>
                  <a:srgbClr val="C7D2DF"/>
                </a:solidFill>
                <a:latin typeface="Inter"/>
              </a:rPr>
              <a:t>Advice that doesn’t just tell you what to do — it proves why, against real market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56048"/>
            <a:ext cx="1412113" cy="310896"/>
          </a:xfrm>
          <a:prstGeom prst="roundRect">
            <a:avLst>
              <a:gd name="adj" fmla="val 50000"/>
            </a:avLst>
          </a:prstGeom>
          <a:solidFill>
            <a:srgbClr val="00C853">
              <a:alpha val="14000"/>
            </a:srgbClr>
          </a:solidFill>
          <a:ln w="9525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 spc="40">
                <a:solidFill>
                  <a:srgbClr val="00C853"/>
                </a:solidFill>
                <a:latin typeface="Inter"/>
              </a:rPr>
              <a:t>5-step wizard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17369" y="4956048"/>
            <a:ext cx="1666240" cy="310896"/>
          </a:xfrm>
          <a:prstGeom prst="roundRect">
            <a:avLst>
              <a:gd name="adj" fmla="val 50000"/>
            </a:avLst>
          </a:prstGeom>
          <a:solidFill>
            <a:srgbClr val="4E8FCB">
              <a:alpha val="14000"/>
            </a:srgbClr>
          </a:solidFill>
          <a:ln w="9525">
            <a:solidFill>
              <a:srgbClr val="4E8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 spc="40">
                <a:solidFill>
                  <a:srgbClr val="4E8FCB"/>
                </a:solidFill>
                <a:latin typeface="Inter"/>
              </a:rPr>
              <a:t>Real market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1625" y="4956048"/>
            <a:ext cx="1581531" cy="310896"/>
          </a:xfrm>
          <a:prstGeom prst="roundRect">
            <a:avLst>
              <a:gd name="adj" fmla="val 50000"/>
            </a:avLst>
          </a:prstGeom>
          <a:solidFill>
            <a:srgbClr val="E8B84B">
              <a:alpha val="14000"/>
            </a:srgbClr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 spc="40">
                <a:solidFill>
                  <a:srgbClr val="E8B84B"/>
                </a:solidFill>
                <a:latin typeface="Inter"/>
              </a:rPr>
              <a:t>Offline-safe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1172" y="4956048"/>
            <a:ext cx="1073277" cy="310896"/>
          </a:xfrm>
          <a:prstGeom prst="roundRect">
            <a:avLst>
              <a:gd name="adj" fmla="val 50000"/>
            </a:avLst>
          </a:prstGeom>
          <a:solidFill>
            <a:srgbClr val="00E676">
              <a:alpha val="14000"/>
            </a:srgbClr>
          </a:solidFill>
          <a:ln w="952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 spc="40">
                <a:solidFill>
                  <a:srgbClr val="00E676"/>
                </a:solidFill>
                <a:latin typeface="Inter"/>
              </a:rPr>
              <a:t>100%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6F8"/>
                </a:solidFill>
                <a:latin typeface="Inter"/>
              </a:rPr>
              <a:t>Team404 — A.kruthika · Shaik Zeeshan · M. Farhan Adil · M. Noel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spc="50">
                <a:solidFill>
                  <a:srgbClr val="A0AEC0"/>
                </a:solidFill>
                <a:latin typeface="Inter"/>
              </a:rPr>
              <a:t>DRKVSRIT × Data Science · 1 Oct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234440"/>
            <a:ext cx="3931920" cy="4617720"/>
          </a:xfrm>
          <a:prstGeom prst="roundRect">
            <a:avLst>
              <a:gd name="adj" fmla="val 4500"/>
            </a:avLst>
          </a:prstGeom>
          <a:solidFill>
            <a:srgbClr val="162D4A"/>
          </a:solidFill>
          <a:ln w="1270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44383" y="1243584"/>
            <a:ext cx="3913632" cy="38404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36408" y="1376172"/>
            <a:ext cx="109728" cy="109728"/>
          </a:xfrm>
          <a:prstGeom prst="ellipse">
            <a:avLst/>
          </a:prstGeom>
          <a:solidFill>
            <a:srgbClr val="E8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5864" y="1376172"/>
            <a:ext cx="109728" cy="109728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5320" y="1376172"/>
            <a:ext cx="109728" cy="109728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32588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spc="50">
                <a:solidFill>
                  <a:srgbClr val="A0AEC0"/>
                </a:solidFill>
                <a:latin typeface="Inter"/>
              </a:rPr>
              <a:t>advisor · step 4 of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7" y="2020824"/>
            <a:ext cx="2852928" cy="27432"/>
          </a:xfrm>
          <a:prstGeom prst="rect">
            <a:avLst/>
          </a:prstGeom>
          <a:solidFill>
            <a:srgbClr val="24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19871" y="1947672"/>
            <a:ext cx="182880" cy="182880"/>
          </a:xfrm>
          <a:prstGeom prst="ellipse">
            <a:avLst/>
          </a:prstGeom>
          <a:solidFill>
            <a:srgbClr val="0E2440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196596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A0AEC0"/>
                </a:solidFill>
                <a:latin typeface="Inter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8833103" y="1947672"/>
            <a:ext cx="182880" cy="182880"/>
          </a:xfrm>
          <a:prstGeom prst="ellipse">
            <a:avLst/>
          </a:prstGeom>
          <a:solidFill>
            <a:srgbClr val="0E2440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19" y="196596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A0AEC0"/>
                </a:solidFill>
                <a:latin typeface="Inter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9546336" y="1947672"/>
            <a:ext cx="182880" cy="182880"/>
          </a:xfrm>
          <a:prstGeom prst="ellipse">
            <a:avLst/>
          </a:prstGeom>
          <a:solidFill>
            <a:srgbClr val="0E2440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196596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A0AEC0"/>
                </a:solidFill>
                <a:latin typeface="Inter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0168128" y="1856232"/>
            <a:ext cx="365760" cy="365760"/>
          </a:xfrm>
          <a:prstGeom prst="ellipse">
            <a:avLst/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59567" y="1947672"/>
            <a:ext cx="182880" cy="182880"/>
          </a:xfrm>
          <a:prstGeom prst="ellipse">
            <a:avLst/>
          </a:prstGeom>
          <a:solidFill>
            <a:srgbClr val="00C853"/>
          </a:solidFill>
          <a:ln w="1143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8984" y="196596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0B1D32"/>
                </a:solidFill>
                <a:latin typeface="Inter"/>
              </a:rPr>
              <a:t>4</a:t>
            </a:r>
          </a:p>
        </p:txBody>
      </p:sp>
      <p:sp>
        <p:nvSpPr>
          <p:cNvPr id="30" name="Oval 29"/>
          <p:cNvSpPr/>
          <p:nvPr/>
        </p:nvSpPr>
        <p:spPr>
          <a:xfrm>
            <a:off x="10972800" y="1947672"/>
            <a:ext cx="182880" cy="182880"/>
          </a:xfrm>
          <a:prstGeom prst="ellipse">
            <a:avLst/>
          </a:prstGeom>
          <a:solidFill>
            <a:srgbClr val="0E2440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72216" y="196596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A0AEC0"/>
                </a:solidFill>
                <a:latin typeface="Inter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404872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spc="140">
                <a:solidFill>
                  <a:srgbClr val="00C853"/>
                </a:solidFill>
                <a:latin typeface="Inter"/>
              </a:rPr>
              <a:t>STEP 4 · RECOMMENDATION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64261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Sora"/>
              </a:rPr>
              <a:t>Recommended for you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3063240"/>
            <a:ext cx="2543860" cy="274320"/>
          </a:xfrm>
          <a:prstGeom prst="rect">
            <a:avLst/>
          </a:prstGeom>
          <a:solidFill>
            <a:srgbClr val="00C853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80852" y="3063240"/>
            <a:ext cx="480060" cy="274320"/>
          </a:xfrm>
          <a:prstGeom prst="rect">
            <a:avLst/>
          </a:prstGeom>
          <a:solidFill>
            <a:srgbClr val="4E8FCB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88344" y="3063240"/>
            <a:ext cx="277063" cy="274320"/>
          </a:xfrm>
          <a:prstGeom prst="rect">
            <a:avLst/>
          </a:prstGeom>
          <a:solidFill>
            <a:srgbClr val="E8B84B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3410712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70">
                <a:solidFill>
                  <a:srgbClr val="A0AEC0"/>
                </a:solidFill>
                <a:latin typeface="Inter"/>
              </a:rPr>
              <a:t>EQUITY 76%  ·  DEBT 15%  ·  GOLD 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377647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spc="80">
                <a:solidFill>
                  <a:srgbClr val="A0AEC0"/>
                </a:solidFill>
                <a:latin typeface="Inter"/>
              </a:rPr>
              <a:t>EXPECTED 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977639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E676"/>
                </a:solidFill>
                <a:latin typeface="Sora"/>
              </a:rPr>
              <a:t>11.2%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377647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spc="80">
                <a:solidFill>
                  <a:srgbClr val="A0AEC0"/>
                </a:solidFill>
                <a:latin typeface="Inter"/>
              </a:rPr>
              <a:t>WORST-CASE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3977639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B84B"/>
                </a:solidFill>
                <a:latin typeface="Sora"/>
              </a:rPr>
              <a:t>−18%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4453128"/>
            <a:ext cx="3383280" cy="640080"/>
          </a:xfrm>
          <a:prstGeom prst="roundRect">
            <a:avLst>
              <a:gd name="adj" fmla="val 7000"/>
            </a:avLst>
          </a:prstGeom>
          <a:solidFill>
            <a:srgbClr val="162D4A">
              <a:alpha val="55000"/>
            </a:srgbClr>
          </a:solidFill>
          <a:ln w="1016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27848" y="4507992"/>
            <a:ext cx="50292" cy="530352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0728" y="4453128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4F6F8"/>
                </a:solidFill>
                <a:latin typeface="Inter"/>
              </a:rPr>
              <a:t>Emergency fund covered → equity unlocked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rule: 6 months expenses before any equity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108960" y="-2743200"/>
            <a:ext cx="7863840" cy="5669280"/>
          </a:xfrm>
          <a:prstGeom prst="ellipse">
            <a:avLst/>
          </a:prstGeom>
          <a:solidFill>
            <a:srgbClr val="3E5C8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480560"/>
            <a:ext cx="6217920" cy="4572000"/>
          </a:xfrm>
          <a:prstGeom prst="ellipse">
            <a:avLst/>
          </a:prstGeom>
          <a:solidFill>
            <a:srgbClr val="3E5C8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00C853"/>
                </a:solidFill>
                <a:latin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4F6F8"/>
                </a:solidFill>
                <a:latin typeface="Sora"/>
              </a:rPr>
              <a:t>One decision, four hidden inputs — nothing connects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234440" cy="41148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40">
                <a:solidFill>
                  <a:srgbClr val="00C853"/>
                </a:solidFill>
                <a:latin typeface="Inter"/>
              </a:rPr>
              <a:t>WHAT ACTUALLY DECIDES THE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8256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311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C853"/>
                </a:solidFill>
                <a:latin typeface="Inter"/>
              </a:rPr>
              <a:t>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2267712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A0AEC0"/>
                </a:solidFill>
                <a:latin typeface="Inter"/>
              </a:rPr>
              <a:t>income − expenses − dependents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2048256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73552" y="22311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E8FC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E8FCB"/>
                </a:solidFill>
                <a:latin typeface="Inter"/>
              </a:rPr>
              <a:t>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267712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272491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A0AEC0"/>
                </a:solidFill>
                <a:latin typeface="Inter"/>
              </a:rPr>
              <a:t>beginner or seasoned investor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19856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6027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B84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E8B84B"/>
                </a:solidFill>
                <a:latin typeface="Inter"/>
              </a:rPr>
              <a:t>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3639312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Background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A0AEC0"/>
                </a:solidFill>
                <a:latin typeface="Inter"/>
              </a:rPr>
              <a:t>prior assets, past losses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90672" y="3419856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73552" y="36027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5D4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E85D4A"/>
                </a:solidFill>
                <a:latin typeface="Inter"/>
              </a:rPr>
              <a:t>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3639312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Risk comfort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409651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A0AEC0"/>
                </a:solidFill>
                <a:latin typeface="Inter"/>
              </a:rPr>
              <a:t>willingness vs. real capacity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82896"/>
            <a:ext cx="4919472" cy="786384"/>
          </a:xfrm>
          <a:prstGeom prst="roundRect">
            <a:avLst>
              <a:gd name="adj" fmla="val 7000"/>
            </a:avLst>
          </a:prstGeom>
          <a:solidFill>
            <a:srgbClr val="162D4A">
              <a:alpha val="55000"/>
            </a:srgbClr>
          </a:solidFill>
          <a:ln w="1016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937759"/>
            <a:ext cx="50292" cy="676656"/>
          </a:xfrm>
          <a:prstGeom prst="rect">
            <a:avLst/>
          </a:prstGeom>
          <a:solidFill>
            <a:srgbClr val="D1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882896"/>
            <a:ext cx="455371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4F6F8"/>
                </a:solidFill>
                <a:latin typeface="Inter"/>
              </a:rPr>
              <a:t>Result: everyone gets the same generic tip.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No tool reads all four together.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650992" y="3017520"/>
            <a:ext cx="713232" cy="566928"/>
          </a:xfrm>
          <a:prstGeom prst="rightArrow">
            <a:avLst/>
          </a:prstGeom>
          <a:solidFill>
            <a:srgbClr val="3E5C8A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65392" y="2048256"/>
            <a:ext cx="5074920" cy="2743200"/>
          </a:xfrm>
          <a:prstGeom prst="roundRect">
            <a:avLst>
              <a:gd name="adj" fmla="val 5000"/>
            </a:avLst>
          </a:prstGeom>
          <a:solidFill>
            <a:srgbClr val="162D4A">
              <a:alpha val="70000"/>
            </a:srgbClr>
          </a:solidFill>
          <a:ln w="12700">
            <a:solidFill>
              <a:srgbClr val="D1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2103120"/>
            <a:ext cx="54864" cy="2633472"/>
          </a:xfrm>
          <a:prstGeom prst="rect">
            <a:avLst/>
          </a:prstGeom>
          <a:solidFill>
            <a:srgbClr val="D1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21424" y="2249424"/>
            <a:ext cx="310896" cy="310896"/>
          </a:xfrm>
          <a:prstGeom prst="ellipse">
            <a:avLst/>
          </a:prstGeom>
          <a:solidFill>
            <a:srgbClr val="D1343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D13438"/>
                </a:solidFill>
                <a:latin typeface="Inter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2249424"/>
            <a:ext cx="4114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6F8"/>
                </a:solidFill>
                <a:latin typeface="Sora"/>
              </a:rPr>
              <a:t>What people get today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7889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13438"/>
                </a:solidFill>
                <a:latin typeface="Inter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27889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C7D2DF"/>
                </a:solidFill>
                <a:latin typeface="Inter"/>
              </a:rPr>
              <a:t>Same portfolio advice, regardless of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3558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13438"/>
                </a:solidFill>
                <a:latin typeface="Inter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87184" y="3355848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C7D2DF"/>
                </a:solidFill>
                <a:latin typeface="Inter"/>
              </a:rPr>
              <a:t>Past losses never explained — only regret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39227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13438"/>
                </a:solidFill>
                <a:latin typeface="Inter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7184" y="3922776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C7D2DF"/>
                </a:solidFill>
                <a:latin typeface="Inter"/>
              </a:rPr>
              <a:t>Decisions run on hype, panic and FOMO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65392" y="4974336"/>
            <a:ext cx="5074920" cy="694944"/>
          </a:xfrm>
          <a:prstGeom prst="roundRect">
            <a:avLst>
              <a:gd name="adj" fmla="val 7000"/>
            </a:avLst>
          </a:prstGeom>
          <a:solidFill>
            <a:srgbClr val="162D4A">
              <a:alpha val="55000"/>
            </a:srgbClr>
          </a:solidFill>
          <a:ln w="1016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79" y="5029200"/>
            <a:ext cx="50292" cy="5852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4974336"/>
            <a:ext cx="470915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4F6F8"/>
                </a:solidFill>
                <a:latin typeface="Inter"/>
              </a:rPr>
              <a:t>The gap: emotion fills in where data is missing.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A beginner cannot tell signal from noise.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327648"/>
            <a:ext cx="11091672" cy="10972"/>
          </a:xfrm>
          <a:prstGeom prst="rect">
            <a:avLst/>
          </a:prstGeom>
          <a:solidFill>
            <a:srgbClr val="24486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0080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60">
                <a:solidFill>
                  <a:srgbClr val="A0AEC0"/>
                </a:solidFill>
                <a:latin typeface="Inter"/>
              </a:rPr>
              <a:t>Team404 · Matrix Hackathon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00800"/>
            <a:ext cx="1216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spc="60">
                <a:solidFill>
                  <a:srgbClr val="00C853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108960" y="-2743200"/>
            <a:ext cx="7863840" cy="5669280"/>
          </a:xfrm>
          <a:prstGeom prst="ellipse">
            <a:avLst/>
          </a:prstGeom>
          <a:solidFill>
            <a:srgbClr val="3E5C8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480560"/>
            <a:ext cx="6217920" cy="4572000"/>
          </a:xfrm>
          <a:prstGeom prst="ellipse">
            <a:avLst/>
          </a:prstGeom>
          <a:solidFill>
            <a:srgbClr val="3E5C8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00C853"/>
                </a:solidFill>
                <a:latin typeface="Inter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4F6F8"/>
                </a:solidFill>
                <a:latin typeface="Sora"/>
              </a:rPr>
              <a:t>A 5-step wizard that asks what real advice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234440" cy="41148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2559" y="1664208"/>
            <a:ext cx="11466576" cy="932688"/>
          </a:xfrm>
          <a:prstGeom prst="roundRect">
            <a:avLst>
              <a:gd name="adj" fmla="val 6000"/>
            </a:avLst>
          </a:prstGeom>
          <a:solidFill>
            <a:srgbClr val="0E2440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0423" y="2029968"/>
            <a:ext cx="9070848" cy="27432"/>
          </a:xfrm>
          <a:prstGeom prst="rect">
            <a:avLst/>
          </a:prstGeom>
          <a:solidFill>
            <a:srgbClr val="24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60423" y="2029968"/>
            <a:ext cx="9070848" cy="27432"/>
          </a:xfrm>
          <a:prstGeom prst="rect">
            <a:avLst/>
          </a:prstGeom>
          <a:solidFill>
            <a:srgbClr val="00C85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04975" y="1883664"/>
            <a:ext cx="310896" cy="31089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7543" y="194767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D32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863" y="2286000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spc="100">
                <a:solidFill>
                  <a:srgbClr val="00C853"/>
                </a:solidFill>
                <a:latin typeface="Inter"/>
              </a:rPr>
              <a:t>PROFILE</a:t>
            </a:r>
          </a:p>
        </p:txBody>
      </p:sp>
      <p:sp>
        <p:nvSpPr>
          <p:cNvPr id="13" name="Oval 12"/>
          <p:cNvSpPr/>
          <p:nvPr/>
        </p:nvSpPr>
        <p:spPr>
          <a:xfrm>
            <a:off x="3672687" y="1883664"/>
            <a:ext cx="310896" cy="31089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5255" y="194767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D32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6575" y="2286000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spc="100">
                <a:solidFill>
                  <a:srgbClr val="00C853"/>
                </a:solidFill>
                <a:latin typeface="Inter"/>
              </a:rPr>
              <a:t>LOSS ANALYSIS</a:t>
            </a:r>
          </a:p>
        </p:txBody>
      </p:sp>
      <p:sp>
        <p:nvSpPr>
          <p:cNvPr id="16" name="Oval 15"/>
          <p:cNvSpPr/>
          <p:nvPr/>
        </p:nvSpPr>
        <p:spPr>
          <a:xfrm>
            <a:off x="5940399" y="1883664"/>
            <a:ext cx="310896" cy="31089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2967" y="194767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D32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4287" y="2286000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spc="100">
                <a:solidFill>
                  <a:srgbClr val="00C853"/>
                </a:solidFill>
                <a:latin typeface="Inter"/>
              </a:rPr>
              <a:t>RISK CHECK</a:t>
            </a:r>
          </a:p>
        </p:txBody>
      </p:sp>
      <p:sp>
        <p:nvSpPr>
          <p:cNvPr id="19" name="Oval 18"/>
          <p:cNvSpPr/>
          <p:nvPr/>
        </p:nvSpPr>
        <p:spPr>
          <a:xfrm>
            <a:off x="8208111" y="1883664"/>
            <a:ext cx="310896" cy="31089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0679" y="194767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D32"/>
                </a:solidFill>
                <a:latin typeface="Inte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1999" y="2286000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spc="100">
                <a:solidFill>
                  <a:srgbClr val="00C853"/>
                </a:solidFill>
                <a:latin typeface="Inter"/>
              </a:rPr>
              <a:t>DUAL PLAN</a:t>
            </a:r>
          </a:p>
        </p:txBody>
      </p:sp>
      <p:sp>
        <p:nvSpPr>
          <p:cNvPr id="22" name="Oval 21"/>
          <p:cNvSpPr/>
          <p:nvPr/>
        </p:nvSpPr>
        <p:spPr>
          <a:xfrm>
            <a:off x="10475823" y="1883664"/>
            <a:ext cx="310896" cy="310896"/>
          </a:xfrm>
          <a:prstGeom prst="ellipse">
            <a:avLst/>
          </a:prstGeom>
          <a:solidFill>
            <a:srgbClr val="0E2440"/>
          </a:solidFill>
          <a:ln w="1270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48391" y="194767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A0AEC0"/>
                </a:solidFill>
                <a:latin typeface="Inter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9711" y="2286000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spc="100">
                <a:solidFill>
                  <a:srgbClr val="A0AEC0"/>
                </a:solidFill>
                <a:latin typeface="Inter"/>
              </a:rPr>
              <a:t>OPTIMIZER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863" y="2834640"/>
            <a:ext cx="2103120" cy="2395728"/>
          </a:xfrm>
          <a:prstGeom prst="roundRect">
            <a:avLst>
              <a:gd name="adj" fmla="val 7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1743" y="301752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C853"/>
                </a:solidFill>
                <a:latin typeface="Sor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0655" y="30540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743" y="3529584"/>
            <a:ext cx="1737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7D2DF"/>
                </a:solidFill>
                <a:latin typeface="Inter"/>
              </a:rPr>
              <a:t>Age, income, expenses, dependents, goals, emergency fund, risk 1–5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1743" y="4773168"/>
            <a:ext cx="1058291" cy="237744"/>
          </a:xfrm>
          <a:prstGeom prst="roundRect">
            <a:avLst>
              <a:gd name="adj" fmla="val 50000"/>
            </a:avLst>
          </a:prstGeom>
          <a:solidFill>
            <a:srgbClr val="4E8FCB">
              <a:alpha val="14000"/>
            </a:srgbClr>
          </a:solidFill>
          <a:ln w="9525">
            <a:solidFill>
              <a:srgbClr val="4E8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spc="40">
                <a:solidFill>
                  <a:srgbClr val="4E8FCB"/>
                </a:solidFill>
                <a:latin typeface="Inter"/>
              </a:rPr>
              <a:t>RULE ENGINE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6575" y="2834640"/>
            <a:ext cx="2103120" cy="2395728"/>
          </a:xfrm>
          <a:prstGeom prst="roundRect">
            <a:avLst>
              <a:gd name="adj" fmla="val 7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59455" y="301752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C853"/>
                </a:solidFill>
                <a:latin typeface="Sora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8367" y="30540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Loss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9455" y="3529584"/>
            <a:ext cx="1737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7D2DF"/>
                </a:solidFill>
                <a:latin typeface="Inter"/>
              </a:rPr>
              <a:t>Your dates matched to real price history — cause, not guesswork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59455" y="4773168"/>
            <a:ext cx="1058291" cy="237744"/>
          </a:xfrm>
          <a:prstGeom prst="roundRect">
            <a:avLst>
              <a:gd name="adj" fmla="val 50000"/>
            </a:avLst>
          </a:prstGeom>
          <a:solidFill>
            <a:srgbClr val="00C853">
              <a:alpha val="14000"/>
            </a:srgbClr>
          </a:solidFill>
          <a:ln w="9525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spc="40">
                <a:solidFill>
                  <a:srgbClr val="00E676"/>
                </a:solidFill>
                <a:latin typeface="Inter"/>
              </a:rPr>
              <a:t>● LIVE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44287" y="2834640"/>
            <a:ext cx="2103120" cy="2395728"/>
          </a:xfrm>
          <a:prstGeom prst="roundRect">
            <a:avLst>
              <a:gd name="adj" fmla="val 7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27167" y="301752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C853"/>
                </a:solidFill>
                <a:latin typeface="Sora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6079" y="30540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Risk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27167" y="3529584"/>
            <a:ext cx="1737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7D2DF"/>
                </a:solidFill>
                <a:latin typeface="Inter"/>
              </a:rPr>
              <a:t>Capacity × willingness: the lower of the two binds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27167" y="4773168"/>
            <a:ext cx="1058291" cy="237744"/>
          </a:xfrm>
          <a:prstGeom prst="roundRect">
            <a:avLst>
              <a:gd name="adj" fmla="val 50000"/>
            </a:avLst>
          </a:prstGeom>
          <a:solidFill>
            <a:srgbClr val="4E8FCB">
              <a:alpha val="14000"/>
            </a:srgbClr>
          </a:solidFill>
          <a:ln w="9525">
            <a:solidFill>
              <a:srgbClr val="4E8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spc="40">
                <a:solidFill>
                  <a:srgbClr val="4E8FCB"/>
                </a:solidFill>
                <a:latin typeface="Inter"/>
              </a:rPr>
              <a:t>RULE ENGINE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1999" y="2834640"/>
            <a:ext cx="2103120" cy="2395728"/>
          </a:xfrm>
          <a:prstGeom prst="roundRect">
            <a:avLst>
              <a:gd name="adj" fmla="val 7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4879" y="301752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C853"/>
                </a:solidFill>
                <a:latin typeface="Sora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3791" y="30540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Dual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4879" y="3529584"/>
            <a:ext cx="1737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7D2DF"/>
                </a:solidFill>
                <a:latin typeface="Inter"/>
              </a:rPr>
              <a:t>Recommended-for-you and build-your-own, with reasoning shown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4879" y="4773168"/>
            <a:ext cx="1058291" cy="237744"/>
          </a:xfrm>
          <a:prstGeom prst="roundRect">
            <a:avLst>
              <a:gd name="adj" fmla="val 50000"/>
            </a:avLst>
          </a:prstGeom>
          <a:solidFill>
            <a:srgbClr val="4E8FCB">
              <a:alpha val="14000"/>
            </a:srgbClr>
          </a:solidFill>
          <a:ln w="9525">
            <a:solidFill>
              <a:srgbClr val="4E8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spc="40">
                <a:solidFill>
                  <a:srgbClr val="4E8FCB"/>
                </a:solidFill>
                <a:latin typeface="Inter"/>
              </a:rPr>
              <a:t>RULE ENGINE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79711" y="2834640"/>
            <a:ext cx="2103120" cy="2395728"/>
          </a:xfrm>
          <a:prstGeom prst="roundRect">
            <a:avLst>
              <a:gd name="adj" fmla="val 7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62591" y="301752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C853"/>
                </a:solidFill>
                <a:latin typeface="Sora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01503" y="30540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Optimizer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2591" y="3529584"/>
            <a:ext cx="1737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7D2DF"/>
                </a:solidFill>
                <a:latin typeface="Inter"/>
              </a:rPr>
              <a:t>Dip → top-up · drift → rebalance · volatility spike → hold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62591" y="4773168"/>
            <a:ext cx="1058291" cy="237744"/>
          </a:xfrm>
          <a:prstGeom prst="roundRect">
            <a:avLst>
              <a:gd name="adj" fmla="val 50000"/>
            </a:avLst>
          </a:prstGeom>
          <a:solidFill>
            <a:srgbClr val="00C853">
              <a:alpha val="14000"/>
            </a:srgbClr>
          </a:solidFill>
          <a:ln w="9525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spc="40">
                <a:solidFill>
                  <a:srgbClr val="00E676"/>
                </a:solidFill>
                <a:latin typeface="Inter"/>
              </a:rPr>
              <a:t>● LIVE DATA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2559" y="5431536"/>
            <a:ext cx="11466576" cy="694944"/>
          </a:xfrm>
          <a:prstGeom prst="roundRect">
            <a:avLst>
              <a:gd name="adj" fmla="val 7000"/>
            </a:avLst>
          </a:prstGeom>
          <a:solidFill>
            <a:srgbClr val="162D4A">
              <a:alpha val="55000"/>
            </a:srgbClr>
          </a:solidFill>
          <a:ln w="1016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0847" y="5486400"/>
            <a:ext cx="50292" cy="585216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27" y="5431536"/>
            <a:ext cx="11100816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4F6F8"/>
                </a:solidFill>
                <a:latin typeface="Inter"/>
              </a:rPr>
              <a:t>Deterministic AI — runs offline, no API key, cannot crash on an outage.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Every number is computed in-app from yfinance data (12 live tickers).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327648"/>
            <a:ext cx="11091672" cy="10972"/>
          </a:xfrm>
          <a:prstGeom prst="rect">
            <a:avLst/>
          </a:prstGeom>
          <a:solidFill>
            <a:srgbClr val="24486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0080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60">
                <a:solidFill>
                  <a:srgbClr val="A0AEC0"/>
                </a:solidFill>
                <a:latin typeface="Inter"/>
              </a:rPr>
              <a:t>Team404 · Matrix Hackathon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6400800"/>
            <a:ext cx="1216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spc="60">
                <a:solidFill>
                  <a:srgbClr val="00C853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108960" y="-2743200"/>
            <a:ext cx="7863840" cy="5669280"/>
          </a:xfrm>
          <a:prstGeom prst="ellipse">
            <a:avLst/>
          </a:prstGeom>
          <a:solidFill>
            <a:srgbClr val="3E5C8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480560"/>
            <a:ext cx="6217920" cy="4572000"/>
          </a:xfrm>
          <a:prstGeom prst="ellipse">
            <a:avLst/>
          </a:prstGeom>
          <a:solidFill>
            <a:srgbClr val="3E5C8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00C853"/>
                </a:solidFill>
                <a:latin typeface="Inter"/>
              </a:rPr>
              <a:t>INSIDE THE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4F6F8"/>
                </a:solidFill>
                <a:latin typeface="Sora"/>
              </a:rPr>
              <a:t>Every claim is proven against real market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234440" cy="41148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577840" cy="2615184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Sora"/>
              </a:rPr>
              <a:t>1  ·  Why you lost — named &amp; evidenced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67712"/>
            <a:ext cx="887984" cy="274320"/>
          </a:xfrm>
          <a:prstGeom prst="roundRect">
            <a:avLst>
              <a:gd name="adj" fmla="val 50000"/>
            </a:avLst>
          </a:prstGeom>
          <a:solidFill>
            <a:srgbClr val="D13438">
              <a:alpha val="15000"/>
            </a:srgbClr>
          </a:solidFill>
          <a:ln w="9525">
            <a:solidFill>
              <a:srgbClr val="D1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spc="40">
                <a:solidFill>
                  <a:srgbClr val="D13438"/>
                </a:solidFill>
                <a:latin typeface="Inter"/>
              </a:rPr>
              <a:t>PEAK_BUY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93240" y="2267712"/>
            <a:ext cx="1032256" cy="274320"/>
          </a:xfrm>
          <a:prstGeom prst="roundRect">
            <a:avLst>
              <a:gd name="adj" fmla="val 50000"/>
            </a:avLst>
          </a:prstGeom>
          <a:solidFill>
            <a:srgbClr val="E85D4A">
              <a:alpha val="15000"/>
            </a:srgbClr>
          </a:solidFill>
          <a:ln w="9525">
            <a:solidFill>
              <a:srgbClr val="E85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spc="40">
                <a:solidFill>
                  <a:srgbClr val="E85D4A"/>
                </a:solidFill>
                <a:latin typeface="Inter"/>
              </a:rPr>
              <a:t>PANIC_SELL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2267712"/>
            <a:ext cx="1032256" cy="274320"/>
          </a:xfrm>
          <a:prstGeom prst="roundRect">
            <a:avLst>
              <a:gd name="adj" fmla="val 50000"/>
            </a:avLst>
          </a:prstGeom>
          <a:solidFill>
            <a:srgbClr val="E8B84B">
              <a:alpha val="15000"/>
            </a:srgbClr>
          </a:solidFill>
          <a:ln w="95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spc="40">
                <a:solidFill>
                  <a:srgbClr val="E8B84B"/>
                </a:solidFill>
                <a:latin typeface="Inter"/>
              </a:rPr>
              <a:t>HYPE_CHASE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3784" y="2267712"/>
            <a:ext cx="1248664" cy="274320"/>
          </a:xfrm>
          <a:prstGeom prst="roundRect">
            <a:avLst>
              <a:gd name="adj" fmla="val 50000"/>
            </a:avLst>
          </a:prstGeom>
          <a:solidFill>
            <a:srgbClr val="4E8FCB">
              <a:alpha val="15000"/>
            </a:srgbClr>
          </a:solidFill>
          <a:ln w="9525">
            <a:solidFill>
              <a:srgbClr val="4E8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spc="40">
                <a:solidFill>
                  <a:srgbClr val="4E8FCB"/>
                </a:solidFill>
                <a:latin typeface="Inter"/>
              </a:rPr>
              <a:t>CONCENTRATION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70048"/>
            <a:ext cx="1609344" cy="274320"/>
          </a:xfrm>
          <a:prstGeom prst="roundRect">
            <a:avLst>
              <a:gd name="adj" fmla="val 50000"/>
            </a:avLst>
          </a:prstGeom>
          <a:solidFill>
            <a:srgbClr val="3E5C8A">
              <a:alpha val="15000"/>
            </a:srgbClr>
          </a:solidFill>
          <a:ln w="9525">
            <a:solidFill>
              <a:srgbClr val="3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spc="40">
                <a:solidFill>
                  <a:srgbClr val="3E5C8A"/>
                </a:solidFill>
                <a:latin typeface="Inter"/>
              </a:rPr>
              <a:t>HOLD_THROUGH_CRASH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2670048"/>
            <a:ext cx="1248664" cy="274320"/>
          </a:xfrm>
          <a:prstGeom prst="roundRect">
            <a:avLst>
              <a:gd name="adj" fmla="val 50000"/>
            </a:avLst>
          </a:prstGeom>
          <a:solidFill>
            <a:srgbClr val="00C853">
              <a:alpha val="15000"/>
            </a:srgbClr>
          </a:solidFill>
          <a:ln w="9525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spc="40">
                <a:solidFill>
                  <a:srgbClr val="00C853"/>
                </a:solidFill>
                <a:latin typeface="Inter"/>
              </a:rPr>
              <a:t>MISMATCH_RISK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45536"/>
            <a:ext cx="5120640" cy="914400"/>
          </a:xfrm>
          <a:prstGeom prst="roundRect">
            <a:avLst>
              <a:gd name="adj" fmla="val 7000"/>
            </a:avLst>
          </a:prstGeom>
          <a:solidFill>
            <a:srgbClr val="0E2440">
              <a:alpha val="70000"/>
            </a:srgbClr>
          </a:solidFill>
          <a:ln w="1016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" y="3200400"/>
            <a:ext cx="50292" cy="804672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145536"/>
            <a:ext cx="4800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C7D2DF"/>
                </a:solidFill>
                <a:latin typeface="Inter"/>
              </a:rPr>
              <a:t>“You bought 11 Feb, within 0.8% of the 90-day high — and exited 8.8% below the 30-day high.”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A0AEC0"/>
                </a:solidFill>
                <a:latin typeface="Inter"/>
              </a:rPr>
              <a:t>evidence from real price history · explained in beginner language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664208"/>
            <a:ext cx="5285232" cy="2615184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8470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Sora"/>
              </a:rPr>
              <a:t>2  ·  Dual plan — ours and yours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249424"/>
            <a:ext cx="2487168" cy="1298448"/>
          </a:xfrm>
          <a:prstGeom prst="roundRect">
            <a:avLst>
              <a:gd name="adj" fmla="val 7000"/>
            </a:avLst>
          </a:prstGeom>
          <a:solidFill>
            <a:srgbClr val="0E2440">
              <a:alpha val="75000"/>
            </a:srgbClr>
          </a:solidFill>
          <a:ln w="1016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235915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4F6F8"/>
                </a:solidFill>
                <a:latin typeface="Sora"/>
              </a:rPr>
              <a:t>Recommended for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8272" y="2688336"/>
            <a:ext cx="1598736" cy="182880"/>
          </a:xfrm>
          <a:prstGeom prst="rect">
            <a:avLst/>
          </a:prstGeom>
          <a:solidFill>
            <a:srgbClr val="00C853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74440" y="2688336"/>
            <a:ext cx="293522" cy="182880"/>
          </a:xfrm>
          <a:prstGeom prst="rect">
            <a:avLst/>
          </a:prstGeom>
          <a:solidFill>
            <a:srgbClr val="4E8FCB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95395" y="2688336"/>
            <a:ext cx="165140" cy="182880"/>
          </a:xfrm>
          <a:prstGeom prst="rect">
            <a:avLst/>
          </a:prstGeom>
          <a:solidFill>
            <a:srgbClr val="E8B84B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96265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A0AEC0"/>
                </a:solidFill>
                <a:latin typeface="Inter"/>
              </a:rPr>
              <a:t>110 − age glide path
+ emergency-fund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2249424"/>
            <a:ext cx="2194560" cy="1298448"/>
          </a:xfrm>
          <a:prstGeom prst="roundRect">
            <a:avLst>
              <a:gd name="adj" fmla="val 7000"/>
            </a:avLst>
          </a:prstGeom>
          <a:solidFill>
            <a:srgbClr val="0E2440">
              <a:alpha val="75000"/>
            </a:srgbClr>
          </a:solidFill>
          <a:ln w="1016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2359152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4F6F8"/>
                </a:solidFill>
                <a:latin typeface="Sora"/>
              </a:rPr>
              <a:t>Build your 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00032" y="2706624"/>
            <a:ext cx="1554480" cy="50292"/>
          </a:xfrm>
          <a:prstGeom prst="rect">
            <a:avLst/>
          </a:prstGeom>
          <a:solidFill>
            <a:srgbClr val="24486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24159" y="2660904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00032" y="2926080"/>
            <a:ext cx="1554480" cy="50292"/>
          </a:xfrm>
          <a:prstGeom prst="rect">
            <a:avLst/>
          </a:prstGeom>
          <a:solidFill>
            <a:srgbClr val="24486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88905" y="2880360"/>
            <a:ext cx="137160" cy="137160"/>
          </a:xfrm>
          <a:prstGeom prst="ellipse">
            <a:avLst/>
          </a:prstGeom>
          <a:solidFill>
            <a:srgbClr val="4E8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00032" y="3145536"/>
            <a:ext cx="1554480" cy="50292"/>
          </a:xfrm>
          <a:prstGeom prst="rect">
            <a:avLst/>
          </a:prstGeom>
          <a:solidFill>
            <a:srgbClr val="24486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90988" y="3099816"/>
            <a:ext cx="137160" cy="13716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0032" y="3346704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0AEC0"/>
                </a:solidFill>
                <a:latin typeface="Inter"/>
              </a:rPr>
              <a:t>live sliders · trade-off curve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639312"/>
            <a:ext cx="48463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7D2DF"/>
                </a:solidFill>
                <a:latin typeface="Inter"/>
              </a:rPr>
              <a:t>High-risk path: live momentum, volatility &amp; drawdown per pick   ·   Low-risk path: SIP 3 / 5 / 10-year scenarios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517136"/>
            <a:ext cx="3611880" cy="1225296"/>
          </a:xfrm>
          <a:prstGeom prst="roundRect">
            <a:avLst>
              <a:gd name="adj" fmla="val 7000"/>
            </a:avLst>
          </a:prstGeom>
          <a:solidFill>
            <a:srgbClr val="162D4A">
              <a:alpha val="80000"/>
            </a:srgbClr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572000"/>
            <a:ext cx="50292" cy="1115568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70001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C853"/>
                </a:solidFill>
                <a:latin typeface="Sora"/>
              </a:rPr>
              <a:t>110 − 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1206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equity glide path — the older you get, the safer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517136"/>
            <a:ext cx="3611880" cy="1225296"/>
          </a:xfrm>
          <a:prstGeom prst="roundRect">
            <a:avLst>
              <a:gd name="adj" fmla="val 7000"/>
            </a:avLst>
          </a:prstGeom>
          <a:solidFill>
            <a:srgbClr val="162D4A">
              <a:alpha val="80000"/>
            </a:srgbClr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61688" y="4572000"/>
            <a:ext cx="50292" cy="1115568"/>
          </a:xfrm>
          <a:prstGeom prst="rect">
            <a:avLst/>
          </a:prstGeom>
          <a:solidFill>
            <a:srgbClr val="4E8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99432" y="470001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E8FCB"/>
                </a:solidFill>
                <a:latin typeface="Sora"/>
              </a:rPr>
              <a:t>min(capacity, willingness)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9432" y="51206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enthusiasm ≠ capacity — the lower binds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4517136"/>
            <a:ext cx="3611880" cy="1225296"/>
          </a:xfrm>
          <a:prstGeom prst="roundRect">
            <a:avLst>
              <a:gd name="adj" fmla="val 7000"/>
            </a:avLst>
          </a:prstGeom>
          <a:solidFill>
            <a:srgbClr val="162D4A">
              <a:alpha val="80000"/>
            </a:srgbClr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56448" y="4572000"/>
            <a:ext cx="50292" cy="1115568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2" y="470001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B84B"/>
                </a:solidFill>
                <a:latin typeface="Sora"/>
              </a:rPr>
              <a:t>6-month fund 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51206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no equity until the emergency fund is full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8704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0AEC0"/>
                </a:solidFill>
                <a:latin typeface="Inter"/>
              </a:rPr>
              <a:t>Advisory logic is transparent: every flag, badge and number traces back to a rule or a real price.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327648"/>
            <a:ext cx="11091672" cy="10972"/>
          </a:xfrm>
          <a:prstGeom prst="rect">
            <a:avLst/>
          </a:prstGeom>
          <a:solidFill>
            <a:srgbClr val="24486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40080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60">
                <a:solidFill>
                  <a:srgbClr val="A0AEC0"/>
                </a:solidFill>
                <a:latin typeface="Inter"/>
              </a:rPr>
              <a:t>Team404 · Matrix Hackathon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400800"/>
            <a:ext cx="1216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spc="60">
                <a:solidFill>
                  <a:srgbClr val="00C853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108960" y="-2743200"/>
            <a:ext cx="7863840" cy="5669280"/>
          </a:xfrm>
          <a:prstGeom prst="ellipse">
            <a:avLst/>
          </a:prstGeom>
          <a:solidFill>
            <a:srgbClr val="3E5C8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480560"/>
            <a:ext cx="6217920" cy="4572000"/>
          </a:xfrm>
          <a:prstGeom prst="ellipse">
            <a:avLst/>
          </a:prstGeom>
          <a:solidFill>
            <a:srgbClr val="3E5C8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00C853"/>
                </a:solidFill>
                <a:latin typeface="Inter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4F6F8"/>
                </a:solidFill>
                <a:latin typeface="Sora"/>
              </a:rPr>
              <a:t>From intake to optimizer — five steps, one sitting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234440" cy="41148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09647" y="1847088"/>
            <a:ext cx="8046720" cy="20116"/>
          </a:xfrm>
          <a:prstGeom prst="rect">
            <a:avLst/>
          </a:prstGeom>
          <a:solidFill>
            <a:srgbClr val="24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41067" y="1778508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5247" y="197510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spc="90">
                <a:solidFill>
                  <a:srgbClr val="00C853"/>
                </a:solidFill>
                <a:latin typeface="Inter"/>
              </a:rPr>
              <a:t>1 · PROFILE</a:t>
            </a:r>
          </a:p>
        </p:txBody>
      </p:sp>
      <p:sp>
        <p:nvSpPr>
          <p:cNvPr id="10" name="Oval 9"/>
          <p:cNvSpPr/>
          <p:nvPr/>
        </p:nvSpPr>
        <p:spPr>
          <a:xfrm>
            <a:off x="4152747" y="1778508"/>
            <a:ext cx="137160" cy="137160"/>
          </a:xfrm>
          <a:prstGeom prst="ellipse">
            <a:avLst/>
          </a:prstGeom>
          <a:solidFill>
            <a:srgbClr val="24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6927" y="197510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spc="90">
                <a:solidFill>
                  <a:srgbClr val="A0AEC0"/>
                </a:solidFill>
                <a:latin typeface="Inter"/>
              </a:rPr>
              <a:t>2 · LOSS</a:t>
            </a:r>
          </a:p>
        </p:txBody>
      </p:sp>
      <p:sp>
        <p:nvSpPr>
          <p:cNvPr id="12" name="Oval 11"/>
          <p:cNvSpPr/>
          <p:nvPr/>
        </p:nvSpPr>
        <p:spPr>
          <a:xfrm>
            <a:off x="6164427" y="1778508"/>
            <a:ext cx="137160" cy="137160"/>
          </a:xfrm>
          <a:prstGeom prst="ellipse">
            <a:avLst/>
          </a:prstGeom>
          <a:solidFill>
            <a:srgbClr val="24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8607" y="197510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spc="90">
                <a:solidFill>
                  <a:srgbClr val="A0AEC0"/>
                </a:solidFill>
                <a:latin typeface="Inter"/>
              </a:rPr>
              <a:t>3 · RISK</a:t>
            </a:r>
          </a:p>
        </p:txBody>
      </p:sp>
      <p:sp>
        <p:nvSpPr>
          <p:cNvPr id="14" name="Oval 13"/>
          <p:cNvSpPr/>
          <p:nvPr/>
        </p:nvSpPr>
        <p:spPr>
          <a:xfrm>
            <a:off x="8176107" y="1778508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0287" y="197510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spc="90">
                <a:solidFill>
                  <a:srgbClr val="00C853"/>
                </a:solidFill>
                <a:latin typeface="Inter"/>
              </a:rPr>
              <a:t>4 · PLAN</a:t>
            </a:r>
          </a:p>
        </p:txBody>
      </p:sp>
      <p:sp>
        <p:nvSpPr>
          <p:cNvPr id="16" name="Oval 15"/>
          <p:cNvSpPr/>
          <p:nvPr/>
        </p:nvSpPr>
        <p:spPr>
          <a:xfrm>
            <a:off x="10187787" y="1778508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1967" y="197510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spc="90">
                <a:solidFill>
                  <a:srgbClr val="00C853"/>
                </a:solidFill>
                <a:latin typeface="Inter"/>
              </a:rPr>
              <a:t>5 · OPTIMIZE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304288"/>
            <a:ext cx="3611880" cy="2670365"/>
          </a:xfrm>
          <a:prstGeom prst="roundRect">
            <a:avLst>
              <a:gd name="adj" fmla="val 3000"/>
            </a:avLst>
          </a:prstGeom>
          <a:solidFill>
            <a:srgbClr val="0E2440"/>
          </a:solidFill>
          <a:ln w="1270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" y="2414016"/>
            <a:ext cx="91440" cy="91440"/>
          </a:xfrm>
          <a:prstGeom prst="ellipse">
            <a:avLst/>
          </a:prstGeom>
          <a:solidFill>
            <a:srgbClr val="E8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7" y="2414016"/>
            <a:ext cx="91440" cy="9144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2414016"/>
            <a:ext cx="91440" cy="9144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34440" y="2372868"/>
            <a:ext cx="2788920" cy="182880"/>
          </a:xfrm>
          <a:prstGeom prst="roundRect">
            <a:avLst>
              <a:gd name="adj" fmla="val 50000"/>
            </a:avLst>
          </a:prstGeom>
          <a:solidFill>
            <a:srgbClr val="0B1D32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5024" y="2386584"/>
            <a:ext cx="2697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0AEC0"/>
                </a:solidFill>
                <a:latin typeface="Inter"/>
              </a:rPr>
              <a:t>localhost:8501</a:t>
            </a:r>
          </a:p>
        </p:txBody>
      </p:sp>
      <p:pic>
        <p:nvPicPr>
          <p:cNvPr id="24" name="Picture 23" descr="step1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15184"/>
            <a:ext cx="3465576" cy="2286318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548640" y="5066093"/>
            <a:ext cx="310896" cy="310896"/>
          </a:xfrm>
          <a:prstGeom prst="ellipse">
            <a:avLst/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C853"/>
                </a:solidFill>
                <a:latin typeface="Sora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075237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Rich intake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50141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Age 28 · ₹80k income · goal in 12y · risk 4/5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2304288"/>
            <a:ext cx="3611880" cy="2670365"/>
          </a:xfrm>
          <a:prstGeom prst="roundRect">
            <a:avLst>
              <a:gd name="adj" fmla="val 3000"/>
            </a:avLst>
          </a:prstGeom>
          <a:solidFill>
            <a:srgbClr val="0E2440"/>
          </a:solidFill>
          <a:ln w="1270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53127" y="2414016"/>
            <a:ext cx="91440" cy="91440"/>
          </a:xfrm>
          <a:prstGeom prst="ellipse">
            <a:avLst/>
          </a:prstGeom>
          <a:solidFill>
            <a:srgbClr val="E8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17719" y="2414016"/>
            <a:ext cx="91440" cy="9144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82312" y="2414016"/>
            <a:ext cx="91440" cy="9144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10912" y="2372868"/>
            <a:ext cx="2788920" cy="182880"/>
          </a:xfrm>
          <a:prstGeom prst="roundRect">
            <a:avLst>
              <a:gd name="adj" fmla="val 50000"/>
            </a:avLst>
          </a:prstGeom>
          <a:solidFill>
            <a:srgbClr val="0B1D32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11496" y="2386584"/>
            <a:ext cx="2697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0AEC0"/>
                </a:solidFill>
                <a:latin typeface="Inter"/>
              </a:rPr>
              <a:t>localhost:8501</a:t>
            </a:r>
          </a:p>
        </p:txBody>
      </p:sp>
      <p:pic>
        <p:nvPicPr>
          <p:cNvPr id="34" name="Picture 33" descr="step4_recomme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2615184"/>
            <a:ext cx="3465576" cy="2286318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4325112" y="5066093"/>
            <a:ext cx="310896" cy="310896"/>
          </a:xfrm>
          <a:prstGeom prst="ellipse">
            <a:avLst/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C853"/>
                </a:solidFill>
                <a:latin typeface="Sor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8" y="5075237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Dual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5450141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76% equity, guard-rail flags, step-by-step why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1583" y="2304288"/>
            <a:ext cx="3611880" cy="2670365"/>
          </a:xfrm>
          <a:prstGeom prst="roundRect">
            <a:avLst>
              <a:gd name="adj" fmla="val 3000"/>
            </a:avLst>
          </a:prstGeom>
          <a:solidFill>
            <a:srgbClr val="0E2440"/>
          </a:solidFill>
          <a:ln w="1270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29600" y="2414016"/>
            <a:ext cx="91440" cy="91440"/>
          </a:xfrm>
          <a:prstGeom prst="ellipse">
            <a:avLst/>
          </a:prstGeom>
          <a:solidFill>
            <a:srgbClr val="E85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94192" y="2414016"/>
            <a:ext cx="91440" cy="9144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58784" y="2414016"/>
            <a:ext cx="91440" cy="9144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87384" y="2372868"/>
            <a:ext cx="2788920" cy="182880"/>
          </a:xfrm>
          <a:prstGeom prst="roundRect">
            <a:avLst>
              <a:gd name="adj" fmla="val 50000"/>
            </a:avLst>
          </a:prstGeom>
          <a:solidFill>
            <a:srgbClr val="0B1D32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87967" y="2386584"/>
            <a:ext cx="2697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0AEC0"/>
                </a:solidFill>
                <a:latin typeface="Inter"/>
              </a:rPr>
              <a:t>localhost:8501</a:t>
            </a:r>
          </a:p>
        </p:txBody>
      </p:sp>
      <p:pic>
        <p:nvPicPr>
          <p:cNvPr id="44" name="Picture 43" descr="step5_optimiz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615184"/>
            <a:ext cx="3465576" cy="2286318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8101583" y="5066093"/>
            <a:ext cx="310896" cy="310896"/>
          </a:xfrm>
          <a:prstGeom prst="ellipse">
            <a:avLst/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C853"/>
                </a:solidFill>
                <a:latin typeface="Sora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19" y="5075237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4F6F8"/>
                </a:solidFill>
                <a:latin typeface="Sora"/>
              </a:rPr>
              <a:t>Optimizer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1583" y="5450141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Live signals: dip → top-up · drift → rebalance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Steps 2 &amp; 3 (loss proof and risk check) run on the same rail — one flow, no dead ends.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327648"/>
            <a:ext cx="11091672" cy="10972"/>
          </a:xfrm>
          <a:prstGeom prst="rect">
            <a:avLst/>
          </a:prstGeom>
          <a:solidFill>
            <a:srgbClr val="24486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40080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60">
                <a:solidFill>
                  <a:srgbClr val="A0AEC0"/>
                </a:solidFill>
                <a:latin typeface="Inter"/>
              </a:rPr>
              <a:t>Team404 · Matrix Hackathon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400800"/>
            <a:ext cx="1216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spc="60">
                <a:solidFill>
                  <a:srgbClr val="00C853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108960" y="-2743200"/>
            <a:ext cx="7863840" cy="5669280"/>
          </a:xfrm>
          <a:prstGeom prst="ellipse">
            <a:avLst/>
          </a:prstGeom>
          <a:solidFill>
            <a:srgbClr val="3E5C8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480560"/>
            <a:ext cx="6217920" cy="4572000"/>
          </a:xfrm>
          <a:prstGeom prst="ellipse">
            <a:avLst/>
          </a:prstGeom>
          <a:solidFill>
            <a:srgbClr val="3E5C8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00C853"/>
                </a:solidFill>
                <a:latin typeface="Inter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4F6F8"/>
                </a:solidFill>
                <a:latin typeface="Sora"/>
              </a:rPr>
              <a:t>From regret to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234440" cy="41148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82496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162D4A">
              <a:alpha val="85000"/>
            </a:srgbClr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19656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110">
                <a:solidFill>
                  <a:srgbClr val="A0AEC0"/>
                </a:solidFill>
                <a:latin typeface="Inter"/>
              </a:rPr>
              <a:t>GUIDED STEPS, ZERO JARGON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48256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0E676"/>
                </a:solidFill>
                <a:latin typeface="Sora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82496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162D4A">
              <a:alpha val="85000"/>
            </a:srgbClr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819656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110">
                <a:solidFill>
                  <a:srgbClr val="A0AEC0"/>
                </a:solidFill>
                <a:latin typeface="Inter"/>
              </a:rPr>
              <a:t>LIVE TICKERS VIA YFINANCE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048256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4E8FCB"/>
                </a:solidFill>
                <a:latin typeface="Sora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682496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162D4A">
              <a:alpha val="85000"/>
            </a:srgbClr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819656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110">
                <a:solidFill>
                  <a:srgbClr val="A0AEC0"/>
                </a:solidFill>
                <a:latin typeface="Inter"/>
              </a:rPr>
              <a:t>API KEYS — OFFLINE-SAFE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048256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8B84B"/>
                </a:solidFill>
                <a:latin typeface="Sora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682496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162D4A">
              <a:alpha val="85000"/>
            </a:srgbClr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819656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110">
                <a:solidFill>
                  <a:srgbClr val="A0AEC0"/>
                </a:solidFill>
                <a:latin typeface="Inter"/>
              </a:rPr>
              <a:t>COST — FREE &amp;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048256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85D4A"/>
                </a:solidFill>
                <a:latin typeface="Sora"/>
              </a:rPr>
              <a:t>₹0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17520"/>
            <a:ext cx="3611880" cy="1700784"/>
          </a:xfrm>
          <a:prstGeom prst="roundRect">
            <a:avLst>
              <a:gd name="adj" fmla="val 6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090672"/>
            <a:ext cx="50292" cy="155448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59" y="3255264"/>
            <a:ext cx="402336" cy="402336"/>
          </a:xfrm>
          <a:prstGeom prst="ellipse">
            <a:avLst/>
          </a:prstGeom>
          <a:solidFill>
            <a:srgbClr val="00C85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C853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785615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4F6F8"/>
                </a:solidFill>
                <a:latin typeface="Sora"/>
              </a:rPr>
              <a:t>Explained, not told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Beginners see the why behind every number — no jargon, no guesswork.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017520"/>
            <a:ext cx="3611880" cy="1700784"/>
          </a:xfrm>
          <a:prstGeom prst="roundRect">
            <a:avLst>
              <a:gd name="adj" fmla="val 6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090672"/>
            <a:ext cx="50292" cy="155448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20" y="3255264"/>
            <a:ext cx="402336" cy="402336"/>
          </a:xfrm>
          <a:prstGeom prst="ellipse">
            <a:avLst/>
          </a:prstGeom>
          <a:solidFill>
            <a:srgbClr val="E8B84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E8B84B"/>
                </a:solidFill>
                <a:latin typeface="Inter"/>
              </a:rPr>
              <a:t>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785615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4F6F8"/>
                </a:solidFill>
                <a:latin typeface="Sora"/>
              </a:rPr>
              <a:t>Losses become lessons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Past mistakes are proven with real price history, then turned into rules.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017520"/>
            <a:ext cx="3611880" cy="1700784"/>
          </a:xfrm>
          <a:prstGeom prst="roundRect">
            <a:avLst>
              <a:gd name="adj" fmla="val 6000"/>
            </a:avLst>
          </a:prstGeom>
          <a:solidFill>
            <a:srgbClr val="162D4A"/>
          </a:solidFill>
          <a:ln w="11430">
            <a:solidFill>
              <a:srgbClr val="24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3090672"/>
            <a:ext cx="50292" cy="1554480"/>
          </a:xfrm>
          <a:prstGeom prst="rect">
            <a:avLst/>
          </a:prstGeom>
          <a:solidFill>
            <a:srgbClr val="4E8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0" y="3255264"/>
            <a:ext cx="402336" cy="402336"/>
          </a:xfrm>
          <a:prstGeom prst="ellipse">
            <a:avLst/>
          </a:prstGeom>
          <a:solidFill>
            <a:srgbClr val="4E8FC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E8FCB"/>
                </a:solidFill>
                <a:latin typeface="Inter"/>
              </a:rPr>
              <a:t>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785615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4F6F8"/>
                </a:solidFill>
                <a:latin typeface="Sora"/>
              </a:rPr>
              <a:t>Habits over hype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A0AEC0"/>
                </a:solidFill>
                <a:latin typeface="Inter"/>
              </a:rPr>
              <a:t>SIP and rebalancing replace panic, FOMO and regret.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92624"/>
            <a:ext cx="11091672" cy="1060704"/>
          </a:xfrm>
          <a:prstGeom prst="roundRect">
            <a:avLst>
              <a:gd name="adj" fmla="val 16000"/>
            </a:avLst>
          </a:prstGeom>
          <a:solidFill>
            <a:srgbClr val="00C853">
              <a:alpha val="16000"/>
            </a:srgbClr>
          </a:solidFill>
          <a:ln w="1270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75504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4F6F8"/>
                </a:solidFill>
                <a:latin typeface="Sora"/>
              </a:rPr>
              <a:t>Thank you — Team404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596128"/>
            <a:ext cx="7132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7D2DF"/>
                </a:solidFill>
                <a:latin typeface="Inter"/>
              </a:rPr>
              <a:t>AI-Powered Personal Investment Advisor · background analysis &amp; risk-based planning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05520" y="5449824"/>
            <a:ext cx="1465072" cy="292608"/>
          </a:xfrm>
          <a:prstGeom prst="roundRect">
            <a:avLst>
              <a:gd name="adj" fmla="val 50000"/>
            </a:avLst>
          </a:prstGeom>
          <a:solidFill>
            <a:srgbClr val="00C853">
              <a:alpha val="16000"/>
            </a:srgbClr>
          </a:solidFill>
          <a:ln w="9525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spc="40">
                <a:solidFill>
                  <a:srgbClr val="00E676"/>
                </a:solidFill>
                <a:latin typeface="Inter"/>
              </a:rPr>
              <a:t>real market 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16896" y="5449824"/>
            <a:ext cx="1176528" cy="292608"/>
          </a:xfrm>
          <a:prstGeom prst="roundRect">
            <a:avLst>
              <a:gd name="adj" fmla="val 50000"/>
            </a:avLst>
          </a:prstGeom>
          <a:solidFill>
            <a:srgbClr val="00C853">
              <a:alpha val="16000"/>
            </a:srgbClr>
          </a:solidFill>
          <a:ln w="9525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spc="40">
                <a:solidFill>
                  <a:srgbClr val="00E676"/>
                </a:solidFill>
                <a:latin typeface="Inter"/>
              </a:rPr>
              <a:t>offline-safe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138928"/>
            <a:ext cx="3163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spc="140">
                <a:solidFill>
                  <a:srgbClr val="00C853"/>
                </a:solidFill>
                <a:latin typeface="Inter"/>
              </a:rPr>
              <a:t>DRKVSRIT × DATA SCIENCE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327648"/>
            <a:ext cx="11091672" cy="10972"/>
          </a:xfrm>
          <a:prstGeom prst="rect">
            <a:avLst/>
          </a:prstGeom>
          <a:solidFill>
            <a:srgbClr val="24486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60">
                <a:solidFill>
                  <a:srgbClr val="A0AEC0"/>
                </a:solidFill>
                <a:latin typeface="Inter"/>
              </a:rPr>
              <a:t>Team404 · Matrix Hackathon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400800"/>
            <a:ext cx="1216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spc="60">
                <a:solidFill>
                  <a:srgbClr val="00C853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